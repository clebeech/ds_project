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9" r:id="rId2"/>
    <p:sldId id="272" r:id="rId3"/>
    <p:sldId id="273" r:id="rId4"/>
    <p:sldId id="275" r:id="rId5"/>
    <p:sldId id="270" r:id="rId6"/>
    <p:sldId id="274" r:id="rId7"/>
    <p:sldId id="271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/>
    <p:restoredTop sz="83171"/>
  </p:normalViewPr>
  <p:slideViewPr>
    <p:cSldViewPr snapToGrid="0" showGuides="1">
      <p:cViewPr varScale="1">
        <p:scale>
          <a:sx n="87" d="100"/>
          <a:sy n="87" d="100"/>
        </p:scale>
        <p:origin x="-448" y="184"/>
      </p:cViewPr>
      <p:guideLst>
        <p:guide orient="horz" pos="2160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6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C925B-3E39-43AD-8B67-5DF0EC6EC776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47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648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49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50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59384-44B9-40B9-8B8A-8282F0DF67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调研并收集数据，可以是多个贫困县的数据，也可以是具体聚焦于某个县内，收集数据，设计</a:t>
            </a:r>
            <a:r>
              <a:rPr lang="en-US" altLang="zh-CN" dirty="0"/>
              <a:t> schema</a:t>
            </a:r>
            <a:r>
              <a:rPr lang="zh-CN" altLang="en-US" dirty="0"/>
              <a:t>，</a:t>
            </a:r>
            <a:r>
              <a:rPr lang="en-US" altLang="zh-CN" dirty="0"/>
              <a:t>E-R </a:t>
            </a:r>
            <a:r>
              <a:rPr lang="zh-CN" altLang="en-US" dirty="0"/>
              <a:t>图，实体之间的关系，导入数据库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根据 </a:t>
            </a:r>
            <a:r>
              <a:rPr lang="en-US" altLang="zh-CN" dirty="0"/>
              <a:t>832 </a:t>
            </a:r>
            <a:r>
              <a:rPr lang="zh-CN" altLang="en-US" dirty="0"/>
              <a:t>工程设计不同的角色</a:t>
            </a:r>
            <a:r>
              <a:rPr kumimoji="0" lang="zh-CN" altLang="en-US" dirty="0"/>
              <a:t>，</a:t>
            </a:r>
            <a:r>
              <a:rPr kumimoji="1" lang="zh-CN" altLang="en-US" dirty="0"/>
              <a:t>比如 政府官员看贫困县数据，分析数据，其他角色怎么和贫困县数据交互，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dirty="0"/>
              <a:t>设计 </a:t>
            </a:r>
            <a:r>
              <a:rPr kumimoji="1" lang="en-US" altLang="zh-CN" dirty="0"/>
              <a:t>SQL </a:t>
            </a:r>
            <a:r>
              <a:rPr kumimoji="1" lang="zh-CN" altLang="en-US" dirty="0"/>
              <a:t>语句和对应的后端操作 前端展示，也可以结合大模型辅助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59384-44B9-40B9-8B8A-8282F0DF67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6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F2A0-F7CA-E9C9-6649-94CE9AA3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C53E05-9CC9-BAFC-3334-FA97A6676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CDB1A2-CF6F-633B-7D66-0F9C5F3D9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BE5A37-3095-305E-13E6-A36E251C6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59384-44B9-40B9-8B8A-8282F0DF67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339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59384-44B9-40B9-8B8A-8282F0DF67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2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检查用户权限可以用数据库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485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5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1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2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3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3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3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3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3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59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3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0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41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0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0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1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2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0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60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BABBF-E646-4C73-AACC-D2EF0CA95E3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60F3A-9BF9-4B0D-ADBD-71826F3E0E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ctrTitle"/>
          </p:nvPr>
        </p:nvSpPr>
        <p:spPr>
          <a:xfrm>
            <a:off x="404037" y="1122363"/>
            <a:ext cx="11546958" cy="238760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2025 </a:t>
            </a:r>
            <a:r>
              <a:rPr lang="zh-CN" altLang="en-US" sz="5400" dirty="0"/>
              <a:t>数据库系统概论大作业描述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考核方式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组队完成，</a:t>
            </a:r>
            <a:r>
              <a:rPr lang="en-US" altLang="zh-CN" dirty="0"/>
              <a:t>3-5</a:t>
            </a:r>
            <a:r>
              <a:rPr lang="zh-CN" altLang="en-US" dirty="0"/>
              <a:t>人一队</a:t>
            </a:r>
          </a:p>
          <a:p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25 </a:t>
            </a:r>
            <a:r>
              <a:rPr lang="zh-CN" altLang="en-US" dirty="0"/>
              <a:t>日 提交大作业代码和实验报告</a:t>
            </a:r>
          </a:p>
          <a:p>
            <a:r>
              <a:rPr lang="zh-CN" altLang="en-US" dirty="0"/>
              <a:t>需要在课堂上展示、答辩（时间暂定 </a:t>
            </a:r>
            <a:r>
              <a:rPr lang="en-US" altLang="zh-CN" dirty="0"/>
              <a:t>11 </a:t>
            </a:r>
            <a:r>
              <a:rPr lang="zh-CN" altLang="en-US" dirty="0"/>
              <a:t>月 </a:t>
            </a:r>
            <a:r>
              <a:rPr lang="en-US" altLang="zh-CN" dirty="0"/>
              <a:t>27 </a:t>
            </a:r>
            <a:r>
              <a:rPr lang="zh-CN" altLang="en-US" dirty="0"/>
              <a:t>日）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848" y="145669"/>
            <a:ext cx="10515600" cy="1325563"/>
          </a:xfrm>
        </p:spPr>
        <p:txBody>
          <a:bodyPr/>
          <a:lstStyle/>
          <a:p>
            <a:r>
              <a:rPr lang="zh-CN" altLang="en-US" dirty="0"/>
              <a:t>应用背景</a:t>
            </a:r>
            <a:r>
              <a:rPr lang="en-US" altLang="zh-CN" dirty="0"/>
              <a:t>-832 </a:t>
            </a:r>
            <a:r>
              <a:rPr lang="zh-CN" altLang="en-US" dirty="0"/>
              <a:t>工程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7848" y="1471232"/>
            <a:ext cx="11740896" cy="26069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300" b="1" dirty="0"/>
              <a:t>832</a:t>
            </a:r>
            <a:r>
              <a:rPr lang="zh-CN" altLang="en-US" sz="2300" b="1" dirty="0"/>
              <a:t>工程：</a:t>
            </a:r>
            <a:r>
              <a:rPr lang="zh-CN" altLang="en-US" sz="2300" dirty="0"/>
              <a:t>中国人民大学应用经济学院联合新闻学院于</a:t>
            </a:r>
            <a:r>
              <a:rPr lang="en-US" altLang="zh-CN" sz="2300" dirty="0"/>
              <a:t>2021</a:t>
            </a:r>
            <a:r>
              <a:rPr lang="zh-CN" altLang="en-US" sz="2300" dirty="0"/>
              <a:t>年发起，组织大批师生深入全国</a:t>
            </a:r>
            <a:r>
              <a:rPr lang="en-US" altLang="zh-CN" sz="2300" dirty="0"/>
              <a:t>832</a:t>
            </a:r>
            <a:r>
              <a:rPr lang="zh-CN" altLang="en-US" sz="2300" dirty="0"/>
              <a:t>个原国家级贫困县，通过访谈当地领导和脱贫攻坚亲历者，以口述史方式记录研究中国脱贫攻坚历程，旨在提炼中国脱贫攻坚经验，为全球减贫提供中国方案。</a:t>
            </a:r>
            <a:endParaRPr lang="en-US" altLang="zh-CN" sz="2300" dirty="0"/>
          </a:p>
          <a:p>
            <a:pPr marL="0" indent="0">
              <a:buNone/>
            </a:pPr>
            <a:r>
              <a:rPr lang="zh-CN" altLang="en-US" sz="2300" b="1" dirty="0"/>
              <a:t>核心命题</a:t>
            </a:r>
            <a:r>
              <a:rPr lang="zh-CN" altLang="en-US" sz="2300" dirty="0"/>
              <a:t>：围绕“</a:t>
            </a:r>
            <a:r>
              <a:rPr lang="en-US" altLang="zh-CN" sz="2300" dirty="0"/>
              <a:t>832</a:t>
            </a:r>
            <a:r>
              <a:rPr lang="zh-CN" altLang="en-US" sz="2300" dirty="0"/>
              <a:t>工程” 设计并实现一个</a:t>
            </a:r>
            <a:r>
              <a:rPr lang="zh-CN" altLang="en-US" sz="2300" b="1" dirty="0"/>
              <a:t>有具体服务目标</a:t>
            </a:r>
            <a:r>
              <a:rPr lang="zh-CN" altLang="en-US" sz="2300" dirty="0"/>
              <a:t>的数据库应用系统。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5B7DC47-05D5-C153-D1EB-3B0C0905F838}"/>
              </a:ext>
            </a:extLst>
          </p:cNvPr>
          <p:cNvSpPr txBox="1">
            <a:spLocks/>
          </p:cNvSpPr>
          <p:nvPr/>
        </p:nvSpPr>
        <p:spPr>
          <a:xfrm>
            <a:off x="307848" y="3199574"/>
            <a:ext cx="11740896" cy="4351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b="1" dirty="0"/>
              <a:t>主题示例</a:t>
            </a:r>
            <a:endParaRPr lang="en-US" altLang="zh-CN" sz="1800" b="1" dirty="0"/>
          </a:p>
          <a:p>
            <a:r>
              <a:rPr lang="zh-CN" altLang="en-US" sz="1800" b="1" dirty="0"/>
              <a:t>示例</a:t>
            </a:r>
            <a:r>
              <a:rPr lang="en-US" altLang="zh-CN" sz="1800" b="1" dirty="0"/>
              <a:t>1</a:t>
            </a:r>
            <a:r>
              <a:rPr lang="zh-CN" altLang="en" sz="1800" b="1" dirty="0"/>
              <a:t>：</a:t>
            </a:r>
            <a:r>
              <a:rPr lang="zh-CN" altLang="en-US" sz="1800" b="1" dirty="0"/>
              <a:t>调研项目管理平台</a:t>
            </a:r>
          </a:p>
          <a:p>
            <a:pPr marL="457200" lvl="1" indent="0">
              <a:buNone/>
            </a:pPr>
            <a:r>
              <a:rPr lang="zh-CN" altLang="en-US" sz="1800" dirty="0"/>
              <a:t>场景设想：你是调研团队的协调员，需要跟踪数十个分队、数百名学生的调研进度、访谈安排和资料回收情况。</a:t>
            </a:r>
          </a:p>
          <a:p>
            <a:r>
              <a:rPr lang="zh-CN" altLang="en-US" sz="1800" b="1" dirty="0"/>
              <a:t>示例</a:t>
            </a:r>
            <a:r>
              <a:rPr lang="en-US" altLang="zh-CN" sz="1800" b="1" dirty="0"/>
              <a:t>2</a:t>
            </a:r>
            <a:r>
              <a:rPr lang="zh-CN" altLang="en" sz="1800" b="1" dirty="0"/>
              <a:t>：</a:t>
            </a:r>
            <a:r>
              <a:rPr lang="zh-CN" altLang="en-US" sz="1800" b="1" dirty="0"/>
              <a:t>扶贫成果与经济分析系统</a:t>
            </a:r>
          </a:p>
          <a:p>
            <a:pPr marL="457200" lvl="1" indent="0">
              <a:buNone/>
            </a:pPr>
            <a:r>
              <a:rPr lang="zh-CN" altLang="en-US" sz="1800" dirty="0"/>
              <a:t>场景设想：你是某县发改委的分析师，需要整合全县的产业数据、就业数据、财政数据，分析扶贫政策的成效，并为未来规划提供数据支持，同时需要支持数据的增删查改。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2000" dirty="0"/>
              <a:t>鼓励同学们头脑风暴，基于</a:t>
            </a:r>
            <a:r>
              <a:rPr lang="en-US" altLang="zh-CN" sz="2000" dirty="0"/>
              <a:t>832</a:t>
            </a:r>
            <a:r>
              <a:rPr lang="zh-CN" altLang="en-US" sz="2000" dirty="0"/>
              <a:t>工程背景提出自己的创意选题～～～</a:t>
            </a:r>
            <a:endParaRPr lang="en-US" altLang="zh-CN" sz="1800" dirty="0"/>
          </a:p>
          <a:p>
            <a:pPr marL="0" indent="0">
              <a:buNone/>
            </a:pPr>
            <a:br>
              <a:rPr lang="zh-CN" altLang="en-US" sz="1800" dirty="0"/>
            </a:b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E1B2-50AA-72B5-DDEB-ECCC42C6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>
            <a:extLst>
              <a:ext uri="{FF2B5EF4-FFF2-40B4-BE49-F238E27FC236}">
                <a16:creationId xmlns:a16="http://schemas.microsoft.com/office/drawing/2014/main" id="{CA0EC876-C31B-CB29-EFCD-5C335118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94" y="92710"/>
            <a:ext cx="10968475" cy="1325563"/>
          </a:xfrm>
        </p:spPr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1. </a:t>
            </a:r>
            <a:r>
              <a:rPr lang="zh-CN" altLang="en-US" dirty="0"/>
              <a:t>收集数据、进行应用场景和用户设计</a:t>
            </a:r>
          </a:p>
        </p:txBody>
      </p:sp>
      <p:sp>
        <p:nvSpPr>
          <p:cNvPr id="1048587" name="内容占位符 2">
            <a:extLst>
              <a:ext uri="{FF2B5EF4-FFF2-40B4-BE49-F238E27FC236}">
                <a16:creationId xmlns:a16="http://schemas.microsoft.com/office/drawing/2014/main" id="{08D9601B-7A3D-0F05-C8B5-B59CF5590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95" y="1323340"/>
            <a:ext cx="11637011" cy="435165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收集数据：根据小组所定数据库应用系统搜集相应数据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设计场景和用户角色：依据收集到的数据设计应用场景，如该系统的用户包括哪些角色，分别完成哪些数据操作和分析，这些功能如何对应到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操作上</a:t>
            </a:r>
          </a:p>
          <a:p>
            <a:pPr marL="0" indent="0">
              <a:buNone/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578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>
          <a:xfrm>
            <a:off x="125095" y="92710"/>
            <a:ext cx="10515600" cy="1325563"/>
          </a:xfrm>
        </p:spPr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2. </a:t>
            </a:r>
            <a:r>
              <a:rPr lang="zh-CN" altLang="en-US" dirty="0"/>
              <a:t>数据库设计</a:t>
            </a:r>
          </a:p>
        </p:txBody>
      </p:sp>
      <p:sp>
        <p:nvSpPr>
          <p:cNvPr id="1048587" name="内容占位符 2"/>
          <p:cNvSpPr>
            <a:spLocks noGrp="1"/>
          </p:cNvSpPr>
          <p:nvPr>
            <p:ph idx="1"/>
          </p:nvPr>
        </p:nvSpPr>
        <p:spPr>
          <a:xfrm>
            <a:off x="429895" y="1323340"/>
            <a:ext cx="11331575" cy="435165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小组成员根据收集的数据，自行设计或与大模型交互，完成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图和数据库模式的设计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要求理解并设计合理的数据库模式，实体关系来存放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832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工程相关的数据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具体要求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从规范化程度和应用开发的方便性综合评判最终选择的数据库模式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最终需要得到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E-R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图，并且其形式需要与教材上介绍的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E-R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模型尽量接近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实体和表的数量尽量丰富，至少要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如果使用大模型辅助，请记录辅助得到的结果，并分析合理、规范程度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选项</a:t>
            </a:r>
            <a:r>
              <a:rPr lang="en-US" altLang="zh-CN" dirty="0"/>
              <a:t>1</a:t>
            </a:r>
            <a:r>
              <a:rPr lang="zh-CN" altLang="en-US" dirty="0"/>
              <a:t>：采用传统动态网站开发方式，如</a:t>
            </a:r>
            <a:r>
              <a:rPr lang="en-US" altLang="zh-CN" dirty="0"/>
              <a:t>Python Django</a:t>
            </a:r>
            <a:r>
              <a:rPr lang="zh-CN" altLang="en-US" dirty="0"/>
              <a:t>，</a:t>
            </a:r>
            <a:r>
              <a:rPr lang="en-US" altLang="zh-CN" dirty="0"/>
              <a:t>Java JSP</a:t>
            </a:r>
            <a:r>
              <a:rPr lang="zh-CN" altLang="en-US" dirty="0"/>
              <a:t>，</a:t>
            </a:r>
            <a:r>
              <a:rPr lang="en-US" altLang="zh-CN" dirty="0"/>
              <a:t>PHP</a:t>
            </a:r>
            <a:r>
              <a:rPr lang="zh-CN" altLang="en-US" dirty="0"/>
              <a:t>等，完成一个基于 </a:t>
            </a:r>
            <a:r>
              <a:rPr lang="en-US" altLang="zh-CN" dirty="0"/>
              <a:t>832 </a:t>
            </a:r>
            <a:r>
              <a:rPr lang="zh-CN" altLang="en-US" dirty="0"/>
              <a:t>工程的数据库应用系统开发，完成不同角色下的不同功能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选项</a:t>
            </a:r>
            <a:r>
              <a:rPr lang="en-US" altLang="zh-CN" dirty="0"/>
              <a:t>2</a:t>
            </a:r>
            <a:r>
              <a:rPr lang="zh-CN" altLang="en-US" dirty="0"/>
              <a:t>：结合大模型来响应请求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选择选项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之一完成大作业开发即可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A38A76D-E7CD-BE3F-DFB4-B10C86BEBEFB}"/>
              </a:ext>
            </a:extLst>
          </p:cNvPr>
          <p:cNvSpPr txBox="1">
            <a:spLocks/>
          </p:cNvSpPr>
          <p:nvPr/>
        </p:nvSpPr>
        <p:spPr>
          <a:xfrm>
            <a:off x="125095" y="92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任务</a:t>
            </a:r>
            <a:r>
              <a:rPr lang="en-US" altLang="zh-CN" dirty="0"/>
              <a:t>3</a:t>
            </a:r>
            <a:r>
              <a:rPr lang="zh-CN" altLang="en-US" dirty="0"/>
              <a:t>：实现功能，响应用户请求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title"/>
          </p:nvPr>
        </p:nvSpPr>
        <p:spPr>
          <a:xfrm>
            <a:off x="117475" y="132080"/>
            <a:ext cx="10369550" cy="995045"/>
          </a:xfrm>
        </p:spPr>
        <p:txBody>
          <a:bodyPr/>
          <a:lstStyle/>
          <a:p>
            <a:r>
              <a:rPr lang="zh-CN" altLang="en-US"/>
              <a:t>选项</a:t>
            </a:r>
            <a:r>
              <a:rPr lang="en-US" altLang="zh-CN"/>
              <a:t>2. </a:t>
            </a:r>
            <a:r>
              <a:rPr lang="zh-CN" altLang="en-US"/>
              <a:t>结合大模型响应用户请求</a:t>
            </a:r>
          </a:p>
        </p:txBody>
      </p:sp>
      <p:sp>
        <p:nvSpPr>
          <p:cNvPr id="1048589" name="内容占位符 2"/>
          <p:cNvSpPr>
            <a:spLocks noGrp="1"/>
          </p:cNvSpPr>
          <p:nvPr>
            <p:ph idx="1"/>
          </p:nvPr>
        </p:nvSpPr>
        <p:spPr>
          <a:xfrm>
            <a:off x="279400" y="1038860"/>
            <a:ext cx="11670030" cy="5389245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让用户以自然语言的形式提交请求，并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用大模型部分替代传统的应用程序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altLang="en-US" sz="19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学习通过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使用大模型</a:t>
            </a:r>
            <a:r>
              <a:rPr lang="en-US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19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与模型交互完成请求</a:t>
            </a:r>
            <a:endParaRPr lang="zh-CN" altLang="en-US"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利用大模型将自然语言转换为对数据库的操作（SQL），并调用程序来执行SQL操作，将操作执行或查询的结果以合适方式展示给用户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检查用户的权限，判断操作是否能够执行</a:t>
            </a:r>
            <a:endParaRPr lang="en-US" altLang="zh-CN"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根据应用逻辑，判断操作能否执行</a:t>
            </a:r>
            <a:endParaRPr lang="zh-CN" altLang="en-US"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FiMmY5NjgwNzk1ZWQ4YjczNmJjOGRhMTg3Mzg1Nj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674</Words>
  <Application>Microsoft Macintosh PowerPoint</Application>
  <PresentationFormat>宽屏</PresentationFormat>
  <Paragraphs>43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Wingdings</vt:lpstr>
      <vt:lpstr>Office 主题​​</vt:lpstr>
      <vt:lpstr>2025 数据库系统概论大作业描述</vt:lpstr>
      <vt:lpstr>考核方式</vt:lpstr>
      <vt:lpstr>应用背景-832 工程</vt:lpstr>
      <vt:lpstr>任务1. 收集数据、进行应用场景和用户设计</vt:lpstr>
      <vt:lpstr>任务2. 数据库设计</vt:lpstr>
      <vt:lpstr>PowerPoint 演示文稿</vt:lpstr>
      <vt:lpstr>选项2. 结合大模型响应用户请求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数据库大作业描述</dc:title>
  <dc:creator>jinchuan</dc:creator>
  <cp:lastModifiedBy>朝阳 张</cp:lastModifiedBy>
  <cp:revision>41</cp:revision>
  <dcterms:created xsi:type="dcterms:W3CDTF">2024-09-17T10:57:00Z</dcterms:created>
  <dcterms:modified xsi:type="dcterms:W3CDTF">2025-10-28T09:57:07Z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EAA4358DDAEC4818A54BB36BE5803C2F_12</vt:lpwstr>
  </property>
  <property fmtid="{D5CDD505-2E9C-101B-9397-08002B2CF9AE}" pid="3" name="KSOProductBuildVer">
    <vt:lpwstr>2052-12.1.0.18608</vt:lpwstr>
  </property>
</Properties>
</file>